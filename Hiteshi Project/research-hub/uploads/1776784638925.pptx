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Bricolage Grotesque Extra Bold" panose="020B0604020202020204" charset="0"/>
      <p:regular r:id="rId14"/>
    </p:embeddedFont>
    <p:embeddedFont>
      <p:font typeface="Montserrat" panose="000005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009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45036"/>
            <a:ext cx="847856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                             Nexus Research hub 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844409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Presented by Hiteshi Mahajan, Srimahi Dey Sunil Janni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282D5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8" y="386715"/>
            <a:ext cx="4970621" cy="7456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56377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Revolutionizing Research: The Unified Knowledge Hub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280190" y="4101584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next-generation platform designed to bring structure, collaboration, and clarity to the way research teams capture, connect, and discover knowledge — from the first experiment to the final discovery.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5285065"/>
            <a:ext cx="2078236" cy="373142"/>
          </a:xfrm>
          <a:prstGeom prst="roundRect">
            <a:avLst>
              <a:gd name="adj" fmla="val 17872"/>
            </a:avLst>
          </a:prstGeom>
          <a:solidFill>
            <a:srgbClr val="3E0845"/>
          </a:solidFill>
          <a:ln/>
        </p:spPr>
      </p:sp>
      <p:sp>
        <p:nvSpPr>
          <p:cNvPr id="7" name="Text 4"/>
          <p:cNvSpPr/>
          <p:nvPr/>
        </p:nvSpPr>
        <p:spPr>
          <a:xfrm>
            <a:off x="6399252" y="5344597"/>
            <a:ext cx="184011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PLATFORM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457605" y="5277445"/>
            <a:ext cx="2613541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EEAE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84287" y="5344597"/>
            <a:ext cx="236017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MANAGEMENT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1170325" y="5277445"/>
            <a:ext cx="2175510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EEAE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97007" y="5344597"/>
            <a:ext cx="192214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COLLABORATION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282D5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837" y="371475"/>
            <a:ext cx="4991100" cy="7486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6993" y="706636"/>
            <a:ext cx="773001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The Challenge: Disconnected Research Data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706993" y="2047637"/>
            <a:ext cx="7730014" cy="80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 research teams are drowning in fragmented information. Notes live in separate documents, references sit in isolated managers, and experiment logs are buried in shared drives. The result is chaos — and lost science.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06993" y="3026926"/>
            <a:ext cx="7730014" cy="1304568"/>
          </a:xfrm>
          <a:prstGeom prst="roundRect">
            <a:avLst>
              <a:gd name="adj" fmla="val 8411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4133" y="3026926"/>
            <a:ext cx="91440" cy="1304568"/>
          </a:xfrm>
          <a:prstGeom prst="roundRect">
            <a:avLst>
              <a:gd name="adj" fmla="val 81192"/>
            </a:avLst>
          </a:prstGeom>
          <a:solidFill>
            <a:srgbClr val="EEAEF6"/>
          </a:solidFill>
          <a:ln/>
        </p:spPr>
      </p:sp>
      <p:sp>
        <p:nvSpPr>
          <p:cNvPr id="8" name="Text 5"/>
          <p:cNvSpPr/>
          <p:nvPr/>
        </p:nvSpPr>
        <p:spPr>
          <a:xfrm>
            <a:off x="975122" y="3226475"/>
            <a:ext cx="269652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Fragmented Information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75122" y="3597116"/>
            <a:ext cx="7262336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Scattered notes, disparate reference managers, and unlinked experiment logs create a web of disconnected data that is nearly impossible to navigate efficiently.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06993" y="4488894"/>
            <a:ext cx="7730014" cy="1571982"/>
          </a:xfrm>
          <a:prstGeom prst="roundRect">
            <a:avLst>
              <a:gd name="adj" fmla="val 6980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4133" y="4488894"/>
            <a:ext cx="91440" cy="1571982"/>
          </a:xfrm>
          <a:prstGeom prst="roundRect">
            <a:avLst>
              <a:gd name="adj" fmla="val 81192"/>
            </a:avLst>
          </a:prstGeom>
          <a:solidFill>
            <a:srgbClr val="EEAEF6"/>
          </a:solidFill>
          <a:ln/>
        </p:spPr>
      </p:sp>
      <p:sp>
        <p:nvSpPr>
          <p:cNvPr id="12" name="Text 9"/>
          <p:cNvSpPr/>
          <p:nvPr/>
        </p:nvSpPr>
        <p:spPr>
          <a:xfrm>
            <a:off x="975122" y="4688443"/>
            <a:ext cx="278749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Collaboration Breakdown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75122" y="5059085"/>
            <a:ext cx="7262336" cy="80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a shared source of truth, tracking changes, aligning on findings, and maintaining context across team members becomes a constant source of friction and miscommunication.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06993" y="6218277"/>
            <a:ext cx="7730014" cy="1304568"/>
          </a:xfrm>
          <a:prstGeom prst="roundRect">
            <a:avLst>
              <a:gd name="adj" fmla="val 8411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4133" y="6218277"/>
            <a:ext cx="91440" cy="1304568"/>
          </a:xfrm>
          <a:prstGeom prst="roundRect">
            <a:avLst>
              <a:gd name="adj" fmla="val 81192"/>
            </a:avLst>
          </a:prstGeom>
          <a:solidFill>
            <a:srgbClr val="EEAEF6"/>
          </a:solidFill>
          <a:ln/>
        </p:spPr>
      </p:sp>
      <p:sp>
        <p:nvSpPr>
          <p:cNvPr id="16" name="Text 13"/>
          <p:cNvSpPr/>
          <p:nvPr/>
        </p:nvSpPr>
        <p:spPr>
          <a:xfrm>
            <a:off x="975122" y="6417826"/>
            <a:ext cx="22095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Lost Time &amp; Errors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75122" y="6788468"/>
            <a:ext cx="7262336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 research processes waste valuable hours and introduce the potential for critical errors — from misattributed data to irreproducible experiments.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3872"/>
            <a:ext cx="104010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Introducing the Unified Research Platform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7078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platform. Every research activity. Complete context. The Unified Research Platform consolidates everything your team needs into a single, connected environment — eliminating silos and accelerating discovery.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29107"/>
            <a:ext cx="2425660" cy="14991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0762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Centralized Hub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5505450"/>
            <a:ext cx="41821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research activities — notes, references, and experiment logs — live in one unified workspace, accessible to every authorized team member.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3329107"/>
            <a:ext cx="2425660" cy="14991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3986" y="50762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Contextual Linking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23986" y="5505450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Seamlessly link notes, logs, and datasets to research topics, building a living knowledge graph that preserves context and relationships over time.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3329107"/>
            <a:ext cx="2425660" cy="14991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4302" y="5076230"/>
            <a:ext cx="29522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Integrated Attachments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54302" y="5505450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Attach files, datasets, and relevant documents directly to your research entries, ensuring every asset is connected to the work it supports.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7631"/>
            <a:ext cx="898005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Structured Notes &amp; Experiment Logs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2915364"/>
            <a:ext cx="6565106" cy="3316486"/>
          </a:xfrm>
          <a:prstGeom prst="roundRect">
            <a:avLst>
              <a:gd name="adj" fmla="val 4309"/>
            </a:avLst>
          </a:prstGeom>
          <a:solidFill>
            <a:srgbClr val="243799"/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3113722"/>
            <a:ext cx="40303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SciNote Electronic Lab Notebook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3622238"/>
            <a:ext cx="616839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SciNote offers robust features for structured data entry and experiment tracking. Researchers can maintain detailed experiment logs with built-in version history, ensuring full reproducibility and audit trails for every study.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9273" y="5070991"/>
            <a:ext cx="6168390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templates for consistent data capture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Timestamped experiment logs with full history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Reproducibility built into every entry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113722"/>
            <a:ext cx="43491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Jacquard: Fine-Grained Provenance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3622238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Jacquard project explores fine-grained provenance for empirical research, emphasizing how data and analysis steps are linked. It addresses critical questions like </a:t>
            </a:r>
            <a:r>
              <a:rPr lang="en-US" sz="155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"How was this result generated?"</a:t>
            </a: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155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assumptions were made?"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5070991"/>
            <a:ext cx="62793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Links data to analysis steps transparently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Tracks provenance at a granular level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empirical research integrity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4701"/>
            <a:ext cx="772334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Version Control &amp; Collaboration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3161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evolves — and your platform should keep up. Powerful version control and collaborative tools ensure your team always knows what changed, who changed it, and why.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289935"/>
            <a:ext cx="4215289" cy="3524845"/>
          </a:xfrm>
          <a:prstGeom prst="roundRect">
            <a:avLst>
              <a:gd name="adj" fmla="val 2365"/>
            </a:avLst>
          </a:prstGeom>
          <a:solidFill>
            <a:srgbClr val="282D5E"/>
          </a:solidFill>
          <a:ln/>
        </p:spPr>
      </p:sp>
      <p:sp>
        <p:nvSpPr>
          <p:cNvPr id="5" name="Shape 3"/>
          <p:cNvSpPr/>
          <p:nvPr/>
        </p:nvSpPr>
        <p:spPr>
          <a:xfrm>
            <a:off x="992148" y="348829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EAE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859" y="3651885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2148" y="42819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File Version History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2148" y="4711184"/>
            <a:ext cx="381857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SciNote</a:t>
            </a: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provides File Version History, allowing users to access, download, and restore previous versions of any file — protecting against accidental overwrites and preserving the full research record.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3289935"/>
            <a:ext cx="4215408" cy="3524845"/>
          </a:xfrm>
          <a:prstGeom prst="roundRect">
            <a:avLst>
              <a:gd name="adj" fmla="val 2365"/>
            </a:avLst>
          </a:prstGeom>
          <a:solidFill>
            <a:srgbClr val="282D5E"/>
          </a:solidFill>
          <a:ln/>
        </p:spPr>
      </p:sp>
      <p:sp>
        <p:nvSpPr>
          <p:cNvPr id="10" name="Shape 7"/>
          <p:cNvSpPr/>
          <p:nvPr/>
        </p:nvSpPr>
        <p:spPr>
          <a:xfrm>
            <a:off x="5405795" y="348829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EAE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9506" y="3651885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5795" y="4281964"/>
            <a:ext cx="258627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Provenance Tracking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405795" y="4711184"/>
            <a:ext cx="381869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Jacquard</a:t>
            </a: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improves version control and provenance for empirical research, directly addressing questions like </a:t>
            </a:r>
            <a:r>
              <a:rPr lang="en-US" sz="155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"What's changed recently?"</a:t>
            </a: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155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"How did we generate this chart?"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21203" y="3289935"/>
            <a:ext cx="4215289" cy="3524845"/>
          </a:xfrm>
          <a:prstGeom prst="roundRect">
            <a:avLst>
              <a:gd name="adj" fmla="val 2365"/>
            </a:avLst>
          </a:prstGeom>
          <a:solidFill>
            <a:srgbClr val="282D5E"/>
          </a:solidFill>
          <a:ln/>
        </p:spPr>
      </p:sp>
      <p:sp>
        <p:nvSpPr>
          <p:cNvPr id="15" name="Shape 11"/>
          <p:cNvSpPr/>
          <p:nvPr/>
        </p:nvSpPr>
        <p:spPr>
          <a:xfrm>
            <a:off x="9819561" y="348829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EAEF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83272" y="3651885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19561" y="4281964"/>
            <a:ext cx="329279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Section-Level Commenting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19561" y="4711184"/>
            <a:ext cx="381857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Collaborative commenting on specific sections of notes and logs keeps teams aligned. Feedback is anchored to the exact content it references, eliminating ambiguity and streamlining review cycles.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1020"/>
            <a:ext cx="808505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Linking Notes to Research Topics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0793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is everything in research. By connecting individual notes and experiment logs to broader research topics, the platform creates a living knowledge graph that grows smarter with every entry.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66254"/>
            <a:ext cx="4215289" cy="3372207"/>
          </a:xfrm>
          <a:prstGeom prst="roundRect">
            <a:avLst>
              <a:gd name="adj" fmla="val 2472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3389114"/>
            <a:ext cx="4169569" cy="595313"/>
          </a:xfrm>
          <a:prstGeom prst="roundRect">
            <a:avLst>
              <a:gd name="adj" fmla="val 9395"/>
            </a:avLst>
          </a:prstGeom>
          <a:solidFill>
            <a:srgbClr val="282D5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2606" y="3537823"/>
            <a:ext cx="297656" cy="297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008" y="41827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Tags &amp; Lists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5008" y="4612005"/>
            <a:ext cx="377285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Inspired by </a:t>
            </a:r>
            <a:r>
              <a:rPr lang="en-US" sz="15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Papers</a:t>
            </a: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users can add Tags and Lists as optional columns in their library table view, aiding in organization and quick scanning of references across any research domain.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3366254"/>
            <a:ext cx="4215408" cy="3372207"/>
          </a:xfrm>
          <a:prstGeom prst="roundRect">
            <a:avLst>
              <a:gd name="adj" fmla="val 2472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30297" y="3389114"/>
            <a:ext cx="4169688" cy="595313"/>
          </a:xfrm>
          <a:prstGeom prst="roundRect">
            <a:avLst>
              <a:gd name="adj" fmla="val 9395"/>
            </a:avLst>
          </a:prstGeom>
          <a:solidFill>
            <a:srgbClr val="282D5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6253" y="3537823"/>
            <a:ext cx="297656" cy="297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8655" y="41827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Topic Linking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428655" y="4612005"/>
            <a:ext cx="377297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tagging concept extends to linking notes and logs to broader research topics, creating a connected knowledge graph that surfaces relationships between experiments, findings, and hypotheses.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21203" y="3366254"/>
            <a:ext cx="4215289" cy="3372207"/>
          </a:xfrm>
          <a:prstGeom prst="roundRect">
            <a:avLst>
              <a:gd name="adj" fmla="val 2472"/>
            </a:avLst>
          </a:prstGeom>
          <a:solidFill>
            <a:srgbClr val="090E3F"/>
          </a:solidFill>
          <a:ln w="22860">
            <a:solidFill>
              <a:srgbClr val="41467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44063" y="3389114"/>
            <a:ext cx="4169569" cy="595313"/>
          </a:xfrm>
          <a:prstGeom prst="roundRect">
            <a:avLst>
              <a:gd name="adj" fmla="val 9395"/>
            </a:avLst>
          </a:prstGeom>
          <a:solidFill>
            <a:srgbClr val="282D5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80019" y="3537823"/>
            <a:ext cx="297656" cy="2976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42421" y="41827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Knowledge Graph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42421" y="4612005"/>
            <a:ext cx="377285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 time, the platform builds a rich, interconnected web of research knowledge — making it easy to trace how ideas evolved, which experiments informed which conclusions, and where gaps remain.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6225"/>
            <a:ext cx="710124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Powerful Search Capabilities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4313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the right information at the right time is critical. The platform's search engine is designed to surface insights across your entire research knowledge base — instantly.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299817"/>
            <a:ext cx="31311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Enhanced Tags — SciNote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808333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SciNote enhances searchability with </a:t>
            </a:r>
            <a:r>
              <a:rPr lang="en-US" sz="15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Tags</a:t>
            </a: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that are workspace-wide, allowing researchers to filter and locate content across all projects and team members without switching contexts.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276850"/>
            <a:ext cx="36021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Advanced Search — NotePlan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5785366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NotePlan offers </a:t>
            </a:r>
            <a:r>
              <a:rPr lang="en-US" sz="15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Search</a:t>
            </a: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a Command Bar for efficient information retrieval, enabling power users to query their notes with precision and speed.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21999" y="3101459"/>
            <a:ext cx="6565106" cy="3901797"/>
          </a:xfrm>
          <a:prstGeom prst="roundRect">
            <a:avLst>
              <a:gd name="adj" fmla="val 3662"/>
            </a:avLst>
          </a:prstGeom>
          <a:solidFill>
            <a:srgbClr val="EEAEF6"/>
          </a:solidFill>
          <a:ln/>
        </p:spPr>
      </p:sp>
      <p:sp>
        <p:nvSpPr>
          <p:cNvPr id="9" name="Text 7"/>
          <p:cNvSpPr/>
          <p:nvPr/>
        </p:nvSpPr>
        <p:spPr>
          <a:xfrm>
            <a:off x="7620357" y="3299817"/>
            <a:ext cx="35321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Universal Cross-Note Search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20357" y="3808333"/>
            <a:ext cx="616839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platform will enable </a:t>
            </a:r>
            <a:r>
              <a:rPr lang="en-US" sz="15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cross-note searching</a:t>
            </a:r>
            <a:r>
              <a:rPr lang="en-US" sz="1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allowing users to find information across all stored research data — regardless of where it was originally captured. Search by keyword, tag, author, date, or linked topic to surface exactly what you need.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620357" y="5619274"/>
            <a:ext cx="6168390" cy="1160740"/>
          </a:xfrm>
          <a:prstGeom prst="roundRect">
            <a:avLst>
              <a:gd name="adj" fmla="val 7182"/>
            </a:avLst>
          </a:prstGeom>
          <a:solidFill>
            <a:srgbClr val="022349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715" y="5914549"/>
            <a:ext cx="248007" cy="19835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65081" y="5867162"/>
            <a:ext cx="5325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spans notes, experiment logs, references, and attached files — a single query reaches everything.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547330"/>
            <a:ext cx="5849183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Features at a Glance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69025" y="1520547"/>
            <a:ext cx="13092351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feature is designed to remove friction and amplify the impact of your research team's work.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025" y="2032754"/>
            <a:ext cx="384453" cy="3844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9025" y="2649974"/>
            <a:ext cx="2905363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Structured Notes &amp; Logs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69025" y="3062049"/>
            <a:ext cx="6429732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Organize research with dedicated fields and templates for consistent, reproducible documentation.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1524" y="2032754"/>
            <a:ext cx="384453" cy="3844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1524" y="2649974"/>
            <a:ext cx="2857143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Reference Management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431524" y="3062049"/>
            <a:ext cx="6429851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to external or internal reference libraries, keeping citations connected to the work they support.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025" y="4040029"/>
            <a:ext cx="384453" cy="3844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9025" y="4657249"/>
            <a:ext cx="3107888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File &amp; Dataset Attachment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69025" y="5069324"/>
            <a:ext cx="6429732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all research assets — files, datasets, and documents — in one place, attached directly to relevant entries.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1524" y="4040029"/>
            <a:ext cx="384453" cy="3844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1524" y="4657249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Version History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7431524" y="5069324"/>
            <a:ext cx="6429851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every change and revert to previous states with full audit trails for complete research integrity.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9025" y="6047303"/>
            <a:ext cx="384453" cy="38445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9025" y="6664523"/>
            <a:ext cx="3176468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Collaborative Commenting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769025" y="7076599"/>
            <a:ext cx="6429732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Facilitate team communication on specific details with section-level comments anchored to the content.</a:t>
            </a:r>
            <a:endParaRPr lang="en-US" sz="15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1524" y="6047303"/>
            <a:ext cx="384453" cy="38445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31524" y="6664523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Universal Search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7431524" y="7076599"/>
            <a:ext cx="6429851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any information across the entire knowledge base with a single, powerful search query.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1106"/>
            <a:ext cx="855737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Transforming Research Workflows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4801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difference between a fragmented process and a unified platform is not just convenience — it's the difference between stalled projects and accelerated discovery.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3046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Before the Platform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204" y="3847862"/>
            <a:ext cx="297656" cy="297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8632" y="3838099"/>
            <a:ext cx="23707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 data scattered across tools and drives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1826" y="3847862"/>
            <a:ext cx="297656" cy="2976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2254" y="3838099"/>
            <a:ext cx="23708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Lost context when team members change or projects evolve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204" y="5197316"/>
            <a:ext cx="297656" cy="2976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38632" y="5187553"/>
            <a:ext cx="23707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Collaboration friction from unclear ownership and version confusion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1826" y="5197316"/>
            <a:ext cx="297656" cy="2976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02254" y="5187553"/>
            <a:ext cx="23708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Hours wasted searching for information that should be easy to find</a:t>
            </a:r>
            <a:endParaRPr lang="en-US" sz="1550" dirty="0"/>
          </a:p>
        </p:txBody>
      </p:sp>
      <p:sp>
        <p:nvSpPr>
          <p:cNvPr id="13" name="Shape 7"/>
          <p:cNvSpPr/>
          <p:nvPr/>
        </p:nvSpPr>
        <p:spPr>
          <a:xfrm>
            <a:off x="7421999" y="3106341"/>
            <a:ext cx="6565106" cy="3892153"/>
          </a:xfrm>
          <a:prstGeom prst="roundRect">
            <a:avLst>
              <a:gd name="adj" fmla="val 3672"/>
            </a:avLst>
          </a:prstGeom>
          <a:solidFill>
            <a:srgbClr val="091158"/>
          </a:solidFill>
          <a:ln/>
        </p:spPr>
      </p:sp>
      <p:sp>
        <p:nvSpPr>
          <p:cNvPr id="14" name="Text 8"/>
          <p:cNvSpPr/>
          <p:nvPr/>
        </p:nvSpPr>
        <p:spPr>
          <a:xfrm>
            <a:off x="7620357" y="33046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After the Platform</a:t>
            </a:r>
            <a:endParaRPr lang="en-US" sz="1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4771" y="3847862"/>
            <a:ext cx="297656" cy="2976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65200" y="3838099"/>
            <a:ext cx="23152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knowledge base with everything connected and contextual</a:t>
            </a:r>
            <a:endParaRPr lang="en-US" sz="15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10" y="3847862"/>
            <a:ext cx="297656" cy="2976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473339" y="3838099"/>
            <a:ext cx="23154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provenance and full version history for every entry</a:t>
            </a:r>
            <a:endParaRPr lang="en-US" sz="15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4771" y="5514856"/>
            <a:ext cx="297656" cy="29765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265200" y="5505093"/>
            <a:ext cx="23152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Efficient collaboration with section-level comments and shared context</a:t>
            </a:r>
            <a:endParaRPr lang="en-US" sz="15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2910" y="5514856"/>
            <a:ext cx="297656" cy="29765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1473339" y="5505093"/>
            <a:ext cx="23154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Accelerated discovery as teams focus on innovation, not data management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282D5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" y="378023"/>
            <a:ext cx="4982289" cy="74734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0660" y="617220"/>
            <a:ext cx="7655481" cy="24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50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The Future of Research Collaboration Starts Here.</a:t>
            </a:r>
            <a:endParaRPr lang="en-US" sz="5050" dirty="0"/>
          </a:p>
        </p:txBody>
      </p:sp>
      <p:sp>
        <p:nvSpPr>
          <p:cNvPr id="5" name="Text 2"/>
          <p:cNvSpPr/>
          <p:nvPr/>
        </p:nvSpPr>
        <p:spPr>
          <a:xfrm>
            <a:off x="6230660" y="3286244"/>
            <a:ext cx="7655481" cy="115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Unified Research Platform is more than a tool — it's a transformation in how teams think, work, and discover together. By unifying notes, references, experiment logs, and collaboration into a single intelligent system, research teams can finally focus on what matters most: </a:t>
            </a:r>
            <a:r>
              <a:rPr lang="en-US" sz="14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pushing the boundaries of knowledge.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230660" y="4635937"/>
            <a:ext cx="7655481" cy="2976324"/>
          </a:xfrm>
          <a:prstGeom prst="roundRect">
            <a:avLst>
              <a:gd name="adj" fmla="val 2626"/>
            </a:avLst>
          </a:prstGeom>
          <a:solidFill>
            <a:srgbClr val="282D5E"/>
          </a:solidFill>
          <a:ln/>
        </p:spPr>
      </p:sp>
      <p:sp>
        <p:nvSpPr>
          <p:cNvPr id="7" name="Shape 4"/>
          <p:cNvSpPr/>
          <p:nvPr/>
        </p:nvSpPr>
        <p:spPr>
          <a:xfrm>
            <a:off x="6230660" y="4635937"/>
            <a:ext cx="3827740" cy="1632347"/>
          </a:xfrm>
          <a:prstGeom prst="roundRect">
            <a:avLst>
              <a:gd name="adj" fmla="val 4788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6416635" y="4821912"/>
            <a:ext cx="234350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Unify Your Research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16635" y="5217200"/>
            <a:ext cx="3455789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Bring every note, log, and dataset into one connected platform.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0058400" y="4635937"/>
            <a:ext cx="3827740" cy="1632347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0" y="4635937"/>
            <a:ext cx="22860" cy="1632347"/>
          </a:xfrm>
          <a:prstGeom prst="roundRect">
            <a:avLst>
              <a:gd name="adj" fmla="val 341860"/>
            </a:avLst>
          </a:prstGeom>
          <a:solidFill>
            <a:srgbClr val="414677"/>
          </a:solidFill>
          <a:ln/>
        </p:spPr>
      </p:sp>
      <p:sp>
        <p:nvSpPr>
          <p:cNvPr id="12" name="Text 9"/>
          <p:cNvSpPr/>
          <p:nvPr/>
        </p:nvSpPr>
        <p:spPr>
          <a:xfrm>
            <a:off x="10244376" y="4821912"/>
            <a:ext cx="2358390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Empower Your Team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244376" y="5217200"/>
            <a:ext cx="3455789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Give collaborators the context, version history, and tools they need to excel.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230660" y="6268283"/>
            <a:ext cx="7655481" cy="1343978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15" name="Shape 12"/>
          <p:cNvSpPr/>
          <p:nvPr/>
        </p:nvSpPr>
        <p:spPr>
          <a:xfrm>
            <a:off x="6230660" y="6268283"/>
            <a:ext cx="7655481" cy="22860"/>
          </a:xfrm>
          <a:prstGeom prst="roundRect">
            <a:avLst>
              <a:gd name="adj" fmla="val 341860"/>
            </a:avLst>
          </a:prstGeom>
          <a:solidFill>
            <a:srgbClr val="414677"/>
          </a:solidFill>
          <a:ln/>
        </p:spPr>
      </p:sp>
      <p:sp>
        <p:nvSpPr>
          <p:cNvPr id="16" name="Text 13"/>
          <p:cNvSpPr/>
          <p:nvPr/>
        </p:nvSpPr>
        <p:spPr>
          <a:xfrm>
            <a:off x="6416635" y="6454259"/>
            <a:ext cx="2436733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Accelerate Discovery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16635" y="6849547"/>
            <a:ext cx="7283529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 the friction of data management and unlock your team's full potential.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1223</Words>
  <Application>Microsoft Office PowerPoint</Application>
  <PresentationFormat>Custom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Bricolage Grotesque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Srimahi Dey</cp:lastModifiedBy>
  <cp:revision>1</cp:revision>
  <dcterms:created xsi:type="dcterms:W3CDTF">2026-04-19T14:41:40Z</dcterms:created>
  <dcterms:modified xsi:type="dcterms:W3CDTF">2026-04-19T14:42:35Z</dcterms:modified>
</cp:coreProperties>
</file>